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7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9" r:id="rId11"/>
    <p:sldId id="280" r:id="rId12"/>
    <p:sldId id="28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68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5C69-00A4-7B03-D76E-ED2E4E77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0D063-C125-1361-EA3E-BDF988C1D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897D8-29A1-DF9C-3112-9288452D3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A249E-DBEF-EE4A-9298-BA34F7653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37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A0E7-7131-2932-4A99-18B18B67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B4EE2-7465-CD41-A697-851D8C694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D5D4A-912D-904D-E2BD-B744016CC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94EF7-CBBB-18B5-0089-87278AD75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6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DB19-2002-805D-CD33-EF7863AD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40685-B697-D326-6039-D9AF5137C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C12EF-7BCB-CE5E-F3E9-F2B7DF27C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34B64-3CDB-9374-E350-8BCC13159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63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A516-2E00-0613-95B0-66A6DDED0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97407-B9CF-A9E4-910C-B21646A6D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8C4A9-72E3-AD53-5B4A-C37E8643F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CDDB7-A473-D8AD-DE1E-DCE6FC26B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20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B4FC-4DE6-F3BD-38C3-9426BE38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D8CF6-5AB2-776C-9919-D902214D0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704FE-75AE-631A-16D0-3998C6CED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E4BD4-376E-15A5-CE7D-2A42EFB6F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D7FF-5572-DB60-54F0-9DFFAC38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7B9A5-ABBD-67C8-3077-A3C61CC2B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7D153-F712-8C87-9680-5DF6227BF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CBA4F-F369-5DBA-9531-5056344CC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4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C73D-AF80-FDE9-96CB-8D9BD4CF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84167-5916-FFF5-A47F-0DB03A893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AA2CD-975E-2CAE-F552-07D5A92FE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C3E3F-D6AF-B8D3-9D3D-06CAC957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36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A1E74-22DC-D526-F94E-7445D5B4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29862-0328-DFD3-F78A-049ACA5F2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82A9D-242A-EEC7-FF86-37B0063DB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24B17-3423-8FE8-D79D-BB030AA8AD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87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CC09-663C-C45D-BDE7-0916D64F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244F6-4E77-C5FA-D9D0-0D752F53E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B0983-1A83-B158-A9F2-31EE19E34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95894-2C11-8854-48D3-D926941C9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75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5F96-DD51-9989-ACB9-59314A81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2D059-F9B8-1AE6-D65A-F14B56F5A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186F9-5694-4927-4277-F5F135AA9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5386-8955-EA7F-89AB-404DF365C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3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1263-7845-2B6D-3ADB-F57AD1F3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D449E-9DD6-DD2B-9BFC-D927C17EE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574A7-A026-1249-39EB-7404F142F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2A5F1-DB6A-24BF-CEA4-16848637A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9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390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4942996" y="3200874"/>
            <a:ext cx="3604497" cy="972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Propuesta de Digitalización</a:t>
            </a:r>
            <a:endParaRPr lang="en-US" sz="3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43224" y="2571749"/>
            <a:ext cx="3604268" cy="62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Sistema Integral de Tienda en Línea y Gestión de Citas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F58A65-B897-670F-4057-5B695A49D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52" y="1353684"/>
            <a:ext cx="3106320" cy="312193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4482"/>
            <a:ext cx="4679005" cy="5147982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E483C-8C26-91AD-4E2D-5CF590FD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88934E-C0C1-91D3-0755-1BC25E64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E68F841C-0B9A-0822-9BB7-4DE96C063C29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Situación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Actual</a:t>
            </a:r>
            <a:endParaRPr lang="en-US" sz="2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57A1DB-98C6-ABE8-F73D-244157991670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Redes </a:t>
            </a:r>
            <a:r>
              <a:rPr lang="en-US" sz="1400">
                <a:solidFill>
                  <a:schemeClr val="tx2"/>
                </a:solidFill>
              </a:rPr>
              <a:t>sociales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básicas</a:t>
            </a:r>
            <a:r>
              <a:rPr lang="en-US" sz="1400" dirty="0">
                <a:solidFill>
                  <a:schemeClr val="tx2"/>
                </a:solidFill>
              </a:rPr>
              <a:t> sin </a:t>
            </a:r>
            <a:r>
              <a:rPr lang="en-US" sz="1400">
                <a:solidFill>
                  <a:schemeClr val="tx2"/>
                </a:solidFill>
              </a:rPr>
              <a:t>estrategia</a:t>
            </a:r>
            <a:r>
              <a:rPr lang="en-US" sz="1400" dirty="0">
                <a:solidFill>
                  <a:schemeClr val="tx2"/>
                </a:solidFill>
              </a:rPr>
              <a:t> digital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Sin </a:t>
            </a:r>
            <a:r>
              <a:rPr lang="en-US" sz="1400">
                <a:solidFill>
                  <a:schemeClr val="tx2"/>
                </a:solidFill>
              </a:rPr>
              <a:t>presencia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profesional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en</a:t>
            </a:r>
            <a:r>
              <a:rPr lang="en-US" sz="1400" dirty="0">
                <a:solidFill>
                  <a:schemeClr val="tx2"/>
                </a:solidFill>
              </a:rPr>
              <a:t> internet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Ventas </a:t>
            </a:r>
            <a:r>
              <a:rPr lang="en-US" sz="1400">
                <a:solidFill>
                  <a:schemeClr val="tx2"/>
                </a:solidFill>
              </a:rPr>
              <a:t>limitadas</a:t>
            </a:r>
            <a:r>
              <a:rPr lang="en-US" sz="1400" dirty="0">
                <a:solidFill>
                  <a:schemeClr val="tx2"/>
                </a:solidFill>
              </a:rPr>
              <a:t> a </a:t>
            </a:r>
            <a:r>
              <a:rPr lang="en-US" sz="1400">
                <a:solidFill>
                  <a:schemeClr val="tx2"/>
                </a:solidFill>
              </a:rPr>
              <a:t>ubicación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física</a:t>
            </a:r>
            <a:r>
              <a:rPr lang="en-US" sz="1400" dirty="0">
                <a:solidFill>
                  <a:schemeClr val="tx2"/>
                </a:solidFill>
              </a:rPr>
              <a:t> y WhatsApp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Oportunidad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>
                <a:solidFill>
                  <a:schemeClr val="tx2"/>
                </a:solidFill>
              </a:rPr>
              <a:t>crecimiento</a:t>
            </a:r>
            <a:r>
              <a:rPr lang="en-US" sz="1400" dirty="0">
                <a:solidFill>
                  <a:schemeClr val="tx2"/>
                </a:solidFill>
              </a:rPr>
              <a:t> no </a:t>
            </a:r>
            <a:r>
              <a:rPr lang="en-US" sz="1400">
                <a:solidFill>
                  <a:schemeClr val="tx2"/>
                </a:solidFill>
              </a:rPr>
              <a:t>aprovechada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9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E9B16-92F5-0D0B-4162-4BEEE8B5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20F284-7243-060A-A82B-A096C209C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A74EF792-B1F3-DB85-9910-4D31C3D58CB5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Proponemos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C047D0-9662-03E5-A452-E22BD752579A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Un </a:t>
            </a:r>
            <a:r>
              <a:rPr lang="en-US" sz="1400" dirty="0" err="1">
                <a:solidFill>
                  <a:schemeClr val="tx2"/>
                </a:solidFill>
              </a:rPr>
              <a:t>sistema</a:t>
            </a:r>
            <a:r>
              <a:rPr lang="en-US" sz="1400" dirty="0">
                <a:solidFill>
                  <a:schemeClr val="tx2"/>
                </a:solidFill>
              </a:rPr>
              <a:t> web </a:t>
            </a:r>
            <a:r>
              <a:rPr lang="en-US" sz="1400" dirty="0" err="1">
                <a:solidFill>
                  <a:schemeClr val="tx2"/>
                </a:solidFill>
              </a:rPr>
              <a:t>completo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que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permitirá</a:t>
            </a:r>
            <a:r>
              <a:rPr lang="en-US" sz="1400" dirty="0">
                <a:solidFill>
                  <a:schemeClr val="tx2"/>
                </a:solidFill>
              </a:rPr>
              <a:t> a H2AQUA vender </a:t>
            </a:r>
            <a:r>
              <a:rPr lang="en-US" sz="1400" dirty="0" err="1">
                <a:solidFill>
                  <a:schemeClr val="tx2"/>
                </a:solidFill>
              </a:rPr>
              <a:t>en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línea</a:t>
            </a:r>
            <a:r>
              <a:rPr lang="en-US" sz="1400" dirty="0">
                <a:solidFill>
                  <a:schemeClr val="tx2"/>
                </a:solidFill>
              </a:rPr>
              <a:t> las 24 horas, </a:t>
            </a:r>
            <a:r>
              <a:rPr lang="en-US" sz="1400" dirty="0" err="1">
                <a:solidFill>
                  <a:schemeClr val="tx2"/>
                </a:solidFill>
              </a:rPr>
              <a:t>administrar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productos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fácilmente</a:t>
            </a:r>
            <a:r>
              <a:rPr lang="en-US" sz="1400" dirty="0">
                <a:solidFill>
                  <a:schemeClr val="tx2"/>
                </a:solidFill>
              </a:rPr>
              <a:t> y </a:t>
            </a:r>
            <a:r>
              <a:rPr lang="en-US" sz="1400" dirty="0" err="1">
                <a:solidFill>
                  <a:schemeClr val="tx2"/>
                </a:solidFill>
              </a:rPr>
              <a:t>llegar</a:t>
            </a:r>
            <a:r>
              <a:rPr lang="en-US" sz="1400" dirty="0">
                <a:solidFill>
                  <a:schemeClr val="tx2"/>
                </a:solidFill>
              </a:rPr>
              <a:t> a </a:t>
            </a:r>
            <a:r>
              <a:rPr lang="en-US" sz="1400" dirty="0" err="1">
                <a:solidFill>
                  <a:schemeClr val="tx2"/>
                </a:solidFill>
              </a:rPr>
              <a:t>más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clientes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98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1309A-FCD5-620F-6550-A5159A0A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C9DB39-A1EE-C634-91B9-2333E8D9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348BC39D-5921-016E-F4CD-7D17747C2BA5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Componentes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del Sistema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A41AFE-59F4-7586-2C54-556696FFE1E3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Página web </a:t>
            </a:r>
            <a:r>
              <a:rPr lang="en-US" sz="1400" dirty="0" err="1">
                <a:solidFill>
                  <a:schemeClr val="tx2"/>
                </a:solidFill>
              </a:rPr>
              <a:t>profesional</a:t>
            </a:r>
            <a:r>
              <a:rPr lang="en-US" sz="1400" dirty="0">
                <a:solidFill>
                  <a:schemeClr val="tx2"/>
                </a:solidFill>
              </a:rPr>
              <a:t> - </a:t>
            </a:r>
            <a:r>
              <a:rPr lang="en-US" sz="1400" dirty="0" err="1">
                <a:solidFill>
                  <a:schemeClr val="tx2"/>
                </a:solidFill>
              </a:rPr>
              <a:t>Información</a:t>
            </a:r>
            <a:r>
              <a:rPr lang="en-US" sz="1400" dirty="0">
                <a:solidFill>
                  <a:schemeClr val="tx2"/>
                </a:solidFill>
              </a:rPr>
              <a:t> del </a:t>
            </a:r>
            <a:r>
              <a:rPr lang="en-US" sz="1400" dirty="0" err="1">
                <a:solidFill>
                  <a:schemeClr val="tx2"/>
                </a:solidFill>
              </a:rPr>
              <a:t>negocio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Tienda </a:t>
            </a:r>
            <a:r>
              <a:rPr lang="en-US" sz="1400" dirty="0" err="1">
                <a:solidFill>
                  <a:schemeClr val="tx2"/>
                </a:solidFill>
              </a:rPr>
              <a:t>en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línea</a:t>
            </a:r>
            <a:r>
              <a:rPr lang="en-US" sz="1400" dirty="0">
                <a:solidFill>
                  <a:schemeClr val="tx2"/>
                </a:solidFill>
              </a:rPr>
              <a:t> - </a:t>
            </a:r>
            <a:r>
              <a:rPr lang="en-US" sz="1400" dirty="0" err="1">
                <a:solidFill>
                  <a:schemeClr val="tx2"/>
                </a:solidFill>
              </a:rPr>
              <a:t>Catálogo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 dirty="0" err="1">
                <a:solidFill>
                  <a:schemeClr val="tx2"/>
                </a:solidFill>
              </a:rPr>
              <a:t>productos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Sistema de </a:t>
            </a:r>
            <a:r>
              <a:rPr lang="en-US" sz="1400" dirty="0" err="1">
                <a:solidFill>
                  <a:schemeClr val="tx2"/>
                </a:solidFill>
              </a:rPr>
              <a:t>pagos</a:t>
            </a:r>
            <a:r>
              <a:rPr lang="en-US" sz="1400" dirty="0">
                <a:solidFill>
                  <a:schemeClr val="tx2"/>
                </a:solidFill>
              </a:rPr>
              <a:t> - </a:t>
            </a:r>
            <a:r>
              <a:rPr lang="en-US" sz="1400" dirty="0" err="1">
                <a:solidFill>
                  <a:schemeClr val="tx2"/>
                </a:solidFill>
              </a:rPr>
              <a:t>Cobro</a:t>
            </a:r>
            <a:r>
              <a:rPr lang="en-US" sz="1400" dirty="0">
                <a:solidFill>
                  <a:schemeClr val="tx2"/>
                </a:solidFill>
              </a:rPr>
              <a:t> con </a:t>
            </a:r>
            <a:r>
              <a:rPr lang="en-US" sz="1400" dirty="0" err="1">
                <a:solidFill>
                  <a:schemeClr val="tx2"/>
                </a:solidFill>
              </a:rPr>
              <a:t>tarjeta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Agenda digital - </a:t>
            </a:r>
            <a:r>
              <a:rPr lang="en-US" sz="1400" dirty="0" err="1">
                <a:solidFill>
                  <a:schemeClr val="tx2"/>
                </a:solidFill>
              </a:rPr>
              <a:t>Reserva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 dirty="0" err="1">
                <a:solidFill>
                  <a:schemeClr val="tx2"/>
                </a:solidFill>
              </a:rPr>
              <a:t>citas</a:t>
            </a:r>
            <a:r>
              <a:rPr lang="en-US" sz="1400" dirty="0">
                <a:solidFill>
                  <a:schemeClr val="tx2"/>
                </a:solidFill>
              </a:rPr>
              <a:t> online</a:t>
            </a:r>
          </a:p>
        </p:txBody>
      </p:sp>
    </p:spTree>
    <p:extLst>
      <p:ext uri="{BB962C8B-B14F-4D97-AF65-F5344CB8AC3E}">
        <p14:creationId xmlns:p14="http://schemas.microsoft.com/office/powerpoint/2010/main" val="35032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28B17-20AA-7155-FE54-5FF384552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783307-3209-25D1-611A-AE887CE36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EB4FBDE3-20C0-13D1-1E46-922164E941DB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Sistema de 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Citas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Línea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703644-2741-0E6F-BE98-0AA124E40778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Tus </a:t>
            </a:r>
            <a:r>
              <a:rPr lang="en-US" sz="1400" dirty="0" err="1">
                <a:solidFill>
                  <a:schemeClr val="tx2"/>
                </a:solidFill>
              </a:rPr>
              <a:t>clientes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pueden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reservar</a:t>
            </a:r>
            <a:r>
              <a:rPr lang="en-US" sz="1400" dirty="0">
                <a:solidFill>
                  <a:schemeClr val="tx2"/>
                </a:solidFill>
              </a:rPr>
              <a:t> sus </a:t>
            </a:r>
            <a:r>
              <a:rPr lang="en-US" sz="1400" dirty="0" err="1">
                <a:solidFill>
                  <a:schemeClr val="tx2"/>
                </a:solidFill>
              </a:rPr>
              <a:t>terapias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directamente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desde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tu</a:t>
            </a:r>
            <a:r>
              <a:rPr lang="en-US" sz="1400" dirty="0">
                <a:solidFill>
                  <a:schemeClr val="tx2"/>
                </a:solidFill>
              </a:rPr>
              <a:t> web: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Ver </a:t>
            </a:r>
            <a:r>
              <a:rPr lang="en-US" sz="1400" dirty="0" err="1">
                <a:solidFill>
                  <a:schemeClr val="tx2"/>
                </a:solidFill>
              </a:rPr>
              <a:t>disponibilidad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en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tiempo</a:t>
            </a:r>
            <a:r>
              <a:rPr lang="en-US" sz="1400" dirty="0">
                <a:solidFill>
                  <a:schemeClr val="tx2"/>
                </a:solidFill>
              </a:rPr>
              <a:t> real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Elegir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fecha</a:t>
            </a:r>
            <a:r>
              <a:rPr lang="en-US" sz="1400" dirty="0">
                <a:solidFill>
                  <a:schemeClr val="tx2"/>
                </a:solidFill>
              </a:rPr>
              <a:t>, hora y </a:t>
            </a:r>
            <a:r>
              <a:rPr lang="en-US" sz="1400" dirty="0" err="1">
                <a:solidFill>
                  <a:schemeClr val="tx2"/>
                </a:solidFill>
              </a:rPr>
              <a:t>servicio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Recibir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confirmación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automática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767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41D86-5A6E-0773-33DF-EFDB087B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AA488D-0B2E-41C5-92CF-6DF21E7918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6E35F938-FB6B-8B8F-FF2C-B7CE20580EF3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Ventajas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la Agenda Digital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324B29-6DC5-F990-17AA-D7E96B8DF525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Sin </a:t>
            </a:r>
            <a:r>
              <a:rPr lang="en-US" sz="1400">
                <a:solidFill>
                  <a:schemeClr val="tx2"/>
                </a:solidFill>
              </a:rPr>
              <a:t>llamadas</a:t>
            </a:r>
            <a:r>
              <a:rPr lang="en-US" sz="1400" dirty="0">
                <a:solidFill>
                  <a:schemeClr val="tx2"/>
                </a:solidFill>
              </a:rPr>
              <a:t> - Tus </a:t>
            </a:r>
            <a:r>
              <a:rPr lang="en-US" sz="1400">
                <a:solidFill>
                  <a:schemeClr val="tx2"/>
                </a:solidFill>
              </a:rPr>
              <a:t>clientes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reservan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cuando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quieran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Sin </a:t>
            </a:r>
            <a:r>
              <a:rPr lang="en-US" sz="1400">
                <a:solidFill>
                  <a:schemeClr val="tx2"/>
                </a:solidFill>
              </a:rPr>
              <a:t>errores</a:t>
            </a:r>
            <a:r>
              <a:rPr lang="en-US" sz="1400" dirty="0">
                <a:solidFill>
                  <a:schemeClr val="tx2"/>
                </a:solidFill>
              </a:rPr>
              <a:t> - Sistema </a:t>
            </a:r>
            <a:r>
              <a:rPr lang="en-US" sz="1400">
                <a:solidFill>
                  <a:schemeClr val="tx2"/>
                </a:solidFill>
              </a:rPr>
              <a:t>automático</a:t>
            </a:r>
            <a:r>
              <a:rPr lang="en-US" sz="1400" dirty="0">
                <a:solidFill>
                  <a:schemeClr val="tx2"/>
                </a:solidFill>
              </a:rPr>
              <a:t> sin </a:t>
            </a:r>
            <a:r>
              <a:rPr lang="en-US" sz="1400">
                <a:solidFill>
                  <a:schemeClr val="tx2"/>
                </a:solidFill>
              </a:rPr>
              <a:t>dobles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citas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Recordatorios</a:t>
            </a:r>
            <a:r>
              <a:rPr lang="en-US" sz="1400" dirty="0">
                <a:solidFill>
                  <a:schemeClr val="tx2"/>
                </a:solidFill>
              </a:rPr>
              <a:t> - </a:t>
            </a:r>
            <a:r>
              <a:rPr lang="en-US" sz="1400">
                <a:solidFill>
                  <a:schemeClr val="tx2"/>
                </a:solidFill>
              </a:rPr>
              <a:t>Envío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automático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por</a:t>
            </a:r>
            <a:r>
              <a:rPr lang="en-US" sz="1400" dirty="0">
                <a:solidFill>
                  <a:schemeClr val="tx2"/>
                </a:solidFill>
              </a:rPr>
              <a:t> email/SMS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Tu </a:t>
            </a:r>
            <a:r>
              <a:rPr lang="en-US" sz="1400">
                <a:solidFill>
                  <a:schemeClr val="tx2"/>
                </a:solidFill>
              </a:rPr>
              <a:t>tiempo</a:t>
            </a:r>
            <a:r>
              <a:rPr lang="en-US" sz="1400" dirty="0">
                <a:solidFill>
                  <a:schemeClr val="tx2"/>
                </a:solidFill>
              </a:rPr>
              <a:t> libre - No </a:t>
            </a:r>
            <a:r>
              <a:rPr lang="en-US" sz="1400">
                <a:solidFill>
                  <a:schemeClr val="tx2"/>
                </a:solidFill>
              </a:rPr>
              <a:t>contestar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mensajes</a:t>
            </a:r>
            <a:r>
              <a:rPr lang="en-US" sz="1400" dirty="0">
                <a:solidFill>
                  <a:schemeClr val="tx2"/>
                </a:solidFill>
              </a:rPr>
              <a:t> para </a:t>
            </a:r>
            <a:r>
              <a:rPr lang="en-US" sz="1400">
                <a:solidFill>
                  <a:schemeClr val="tx2"/>
                </a:solidFill>
              </a:rPr>
              <a:t>agendar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9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B72B4-BE45-9F00-F241-C7562EDB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E9664A-42A6-6A2E-3F84-CFBBFF84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8413F7E1-289E-D2DD-D132-39CE93A094C9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Panel de Control (Para 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adminitradores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165ACC-1DF9-14CF-150F-C771B94CE3B6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Gestionar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productos</a:t>
            </a:r>
            <a:r>
              <a:rPr lang="en-US" sz="1400" dirty="0">
                <a:solidFill>
                  <a:schemeClr val="tx2"/>
                </a:solidFill>
              </a:rPr>
              <a:t> e </a:t>
            </a:r>
            <a:r>
              <a:rPr lang="en-US" sz="1400" dirty="0" err="1">
                <a:solidFill>
                  <a:schemeClr val="tx2"/>
                </a:solidFill>
              </a:rPr>
              <a:t>inventario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Ver </a:t>
            </a:r>
            <a:r>
              <a:rPr lang="en-US" sz="1400" dirty="0" err="1">
                <a:solidFill>
                  <a:schemeClr val="tx2"/>
                </a:solidFill>
              </a:rPr>
              <a:t>todas</a:t>
            </a:r>
            <a:r>
              <a:rPr lang="en-US" sz="1400" dirty="0">
                <a:solidFill>
                  <a:schemeClr val="tx2"/>
                </a:solidFill>
              </a:rPr>
              <a:t> las </a:t>
            </a:r>
            <a:r>
              <a:rPr lang="en-US" sz="1400" dirty="0" err="1">
                <a:solidFill>
                  <a:schemeClr val="tx2"/>
                </a:solidFill>
              </a:rPr>
              <a:t>ventas</a:t>
            </a:r>
            <a:r>
              <a:rPr lang="en-US" sz="1400" dirty="0">
                <a:solidFill>
                  <a:schemeClr val="tx2"/>
                </a:solidFill>
              </a:rPr>
              <a:t> del día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Calendario de </a:t>
            </a:r>
            <a:r>
              <a:rPr lang="en-US" sz="1400" dirty="0" err="1">
                <a:solidFill>
                  <a:schemeClr val="tx2"/>
                </a:solidFill>
              </a:rPr>
              <a:t>citas</a:t>
            </a:r>
            <a:r>
              <a:rPr lang="en-US" sz="1400" dirty="0">
                <a:solidFill>
                  <a:schemeClr val="tx2"/>
                </a:solidFill>
              </a:rPr>
              <a:t> y </a:t>
            </a:r>
            <a:r>
              <a:rPr lang="en-US" sz="1400" dirty="0" err="1">
                <a:solidFill>
                  <a:schemeClr val="tx2"/>
                </a:solidFill>
              </a:rPr>
              <a:t>tratamientos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Control total </a:t>
            </a:r>
            <a:r>
              <a:rPr lang="en-US" sz="1400" dirty="0" err="1">
                <a:solidFill>
                  <a:schemeClr val="tx2"/>
                </a:solidFill>
              </a:rPr>
              <a:t>desde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cualquier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dispositivo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06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C626F-1FCE-829E-6189-9D75016A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BE959A-E9EB-8B9A-7CBD-8104FF88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AC17B448-2D4F-A89C-E3F3-0600276795B9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Ventajas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Negocio</a:t>
            </a:r>
            <a:endParaRPr lang="en-US" sz="27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83A5D4-5E46-6BBB-C42C-78C935BB64DD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Ventas 24/7 - Tu </a:t>
            </a:r>
            <a:r>
              <a:rPr lang="en-US" sz="1300" dirty="0" err="1">
                <a:solidFill>
                  <a:schemeClr val="tx2"/>
                </a:solidFill>
              </a:rPr>
              <a:t>negocio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nunca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cierra</a:t>
            </a: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Más </a:t>
            </a:r>
            <a:r>
              <a:rPr lang="en-US" sz="1300" dirty="0" err="1">
                <a:solidFill>
                  <a:schemeClr val="tx2"/>
                </a:solidFill>
              </a:rPr>
              <a:t>clientes</a:t>
            </a:r>
            <a:r>
              <a:rPr lang="en-US" sz="1300" dirty="0">
                <a:solidFill>
                  <a:schemeClr val="tx2"/>
                </a:solidFill>
              </a:rPr>
              <a:t> - </a:t>
            </a:r>
            <a:r>
              <a:rPr lang="en-US" sz="1300" dirty="0" err="1">
                <a:solidFill>
                  <a:schemeClr val="tx2"/>
                </a:solidFill>
              </a:rPr>
              <a:t>Alcance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más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allá</a:t>
            </a:r>
            <a:r>
              <a:rPr lang="en-US" sz="1300" dirty="0">
                <a:solidFill>
                  <a:schemeClr val="tx2"/>
                </a:solidFill>
              </a:rPr>
              <a:t> de </a:t>
            </a:r>
            <a:r>
              <a:rPr lang="en-US" sz="1300" dirty="0" err="1">
                <a:solidFill>
                  <a:schemeClr val="tx2"/>
                </a:solidFill>
              </a:rPr>
              <a:t>tu</a:t>
            </a:r>
            <a:r>
              <a:rPr lang="en-US" sz="1300" dirty="0">
                <a:solidFill>
                  <a:schemeClr val="tx2"/>
                </a:solidFill>
              </a:rPr>
              <a:t> zona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Menos </a:t>
            </a:r>
            <a:r>
              <a:rPr lang="en-US" sz="1300" dirty="0" err="1">
                <a:solidFill>
                  <a:schemeClr val="tx2"/>
                </a:solidFill>
              </a:rPr>
              <a:t>costos</a:t>
            </a:r>
            <a:r>
              <a:rPr lang="en-US" sz="1300" dirty="0">
                <a:solidFill>
                  <a:schemeClr val="tx2"/>
                </a:solidFill>
              </a:rPr>
              <a:t> - Sin </a:t>
            </a:r>
            <a:r>
              <a:rPr lang="en-US" sz="1300" dirty="0" err="1">
                <a:solidFill>
                  <a:schemeClr val="tx2"/>
                </a:solidFill>
              </a:rPr>
              <a:t>alquiler</a:t>
            </a:r>
            <a:r>
              <a:rPr lang="en-US" sz="1300" dirty="0">
                <a:solidFill>
                  <a:schemeClr val="tx2"/>
                </a:solidFill>
              </a:rPr>
              <a:t> de local </a:t>
            </a:r>
            <a:r>
              <a:rPr lang="en-US" sz="1300" dirty="0" err="1">
                <a:solidFill>
                  <a:schemeClr val="tx2"/>
                </a:solidFill>
              </a:rPr>
              <a:t>adicional</a:t>
            </a: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Imagen </a:t>
            </a:r>
            <a:r>
              <a:rPr lang="en-US" sz="1300" dirty="0" err="1">
                <a:solidFill>
                  <a:schemeClr val="tx2"/>
                </a:solidFill>
              </a:rPr>
              <a:t>profesional</a:t>
            </a:r>
            <a:r>
              <a:rPr lang="en-US" sz="1300" dirty="0">
                <a:solidFill>
                  <a:schemeClr val="tx2"/>
                </a:solidFill>
              </a:rPr>
              <a:t> - </a:t>
            </a:r>
            <a:r>
              <a:rPr lang="en-US" sz="1300" dirty="0" err="1">
                <a:solidFill>
                  <a:schemeClr val="tx2"/>
                </a:solidFill>
              </a:rPr>
              <a:t>Competir</a:t>
            </a:r>
            <a:r>
              <a:rPr lang="en-US" sz="1300" dirty="0">
                <a:solidFill>
                  <a:schemeClr val="tx2"/>
                </a:solidFill>
              </a:rPr>
              <a:t> con </a:t>
            </a:r>
            <a:r>
              <a:rPr lang="en-US" sz="1300" dirty="0" err="1">
                <a:solidFill>
                  <a:schemeClr val="tx2"/>
                </a:solidFill>
              </a:rPr>
              <a:t>negocios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grandes</a:t>
            </a: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Control total - Tú decides </a:t>
            </a:r>
            <a:r>
              <a:rPr lang="en-US" sz="1300" dirty="0" err="1">
                <a:solidFill>
                  <a:schemeClr val="tx2"/>
                </a:solidFill>
              </a:rPr>
              <a:t>qué</a:t>
            </a:r>
            <a:r>
              <a:rPr lang="en-US" sz="1300" dirty="0">
                <a:solidFill>
                  <a:schemeClr val="tx2"/>
                </a:solidFill>
              </a:rPr>
              <a:t> vender y a </a:t>
            </a:r>
            <a:r>
              <a:rPr lang="en-US" sz="1300" dirty="0" err="1">
                <a:solidFill>
                  <a:schemeClr val="tx2"/>
                </a:solidFill>
              </a:rPr>
              <a:t>qué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precio</a:t>
            </a: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Datos de </a:t>
            </a:r>
            <a:r>
              <a:rPr lang="en-US" sz="1300" dirty="0" err="1">
                <a:solidFill>
                  <a:schemeClr val="tx2"/>
                </a:solidFill>
              </a:rPr>
              <a:t>clientes</a:t>
            </a:r>
            <a:r>
              <a:rPr lang="en-US" sz="1300" dirty="0">
                <a:solidFill>
                  <a:schemeClr val="tx2"/>
                </a:solidFill>
              </a:rPr>
              <a:t> - </a:t>
            </a:r>
            <a:r>
              <a:rPr lang="en-US" sz="1300" dirty="0" err="1">
                <a:solidFill>
                  <a:schemeClr val="tx2"/>
                </a:solidFill>
              </a:rPr>
              <a:t>Entender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qué</a:t>
            </a:r>
            <a:r>
              <a:rPr lang="en-US" sz="1300" dirty="0">
                <a:solidFill>
                  <a:schemeClr val="tx2"/>
                </a:solidFill>
              </a:rPr>
              <a:t> se </a:t>
            </a:r>
            <a:r>
              <a:rPr lang="en-US" sz="1300" dirty="0" err="1">
                <a:solidFill>
                  <a:schemeClr val="tx2"/>
                </a:solidFill>
              </a:rPr>
              <a:t>vende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más</a:t>
            </a:r>
            <a:endParaRPr lang="en-US" sz="13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52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5C139-C580-C2B0-DA7A-EEBCBE89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70D6CD-5F16-AE95-359B-83CD6596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B010B781-5CF5-585B-7B26-2F34AF816081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Inversión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Inicial</a:t>
            </a:r>
            <a:endParaRPr lang="en-US" sz="27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FB5591-8BFB-B0C2-6AB0-91209DA0D3A3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Dominio/</a:t>
            </a:r>
            <a:r>
              <a:rPr lang="en-US" sz="1400" dirty="0" err="1">
                <a:solidFill>
                  <a:schemeClr val="tx2"/>
                </a:solidFill>
              </a:rPr>
              <a:t>emal</a:t>
            </a:r>
            <a:r>
              <a:rPr lang="en-US" sz="1400" dirty="0">
                <a:solidFill>
                  <a:schemeClr val="tx2"/>
                </a:solidFill>
              </a:rPr>
              <a:t> (</a:t>
            </a:r>
            <a:r>
              <a:rPr lang="en-US" sz="1400" dirty="0" err="1">
                <a:solidFill>
                  <a:schemeClr val="tx2"/>
                </a:solidFill>
              </a:rPr>
              <a:t>com.mx</a:t>
            </a:r>
            <a:r>
              <a:rPr lang="en-US" sz="1400" dirty="0">
                <a:solidFill>
                  <a:schemeClr val="tx2"/>
                </a:solidFill>
              </a:rPr>
              <a:t>): ~$850 MXN/</a:t>
            </a:r>
            <a:r>
              <a:rPr lang="en-US" sz="1400" dirty="0" err="1">
                <a:solidFill>
                  <a:schemeClr val="tx2"/>
                </a:solidFill>
              </a:rPr>
              <a:t>año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Hosting web: ~$400 MXN/</a:t>
            </a:r>
            <a:r>
              <a:rPr lang="en-US" sz="1400" dirty="0" err="1">
                <a:solidFill>
                  <a:schemeClr val="tx2"/>
                </a:solidFill>
              </a:rPr>
              <a:t>mes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Desarrollo del </a:t>
            </a:r>
            <a:r>
              <a:rPr lang="en-US" sz="1400" dirty="0" err="1">
                <a:solidFill>
                  <a:schemeClr val="tx2"/>
                </a:solidFill>
              </a:rPr>
              <a:t>sistema</a:t>
            </a:r>
            <a:r>
              <a:rPr lang="en-US" sz="1400" dirty="0">
                <a:solidFill>
                  <a:schemeClr val="tx2"/>
                </a:solidFill>
              </a:rPr>
              <a:t>: En Desarrollo…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35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4A136-6F88-0C6B-BAC7-7F39EE5A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A18520-9B33-2BF6-748C-DAF5B2E7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DFDD36A8-8D57-A868-AABC-AD1EEA113E86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Costos </a:t>
            </a:r>
            <a:r>
              <a:rPr lang="en-US" sz="2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Venta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5FF2F2-3F27-3926-4591-1C4D45206A08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Stripe (</a:t>
            </a:r>
            <a:r>
              <a:rPr lang="en-US" sz="1400" dirty="0" err="1">
                <a:solidFill>
                  <a:schemeClr val="tx2"/>
                </a:solidFill>
              </a:rPr>
              <a:t>pasarela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 dirty="0" err="1">
                <a:solidFill>
                  <a:schemeClr val="tx2"/>
                </a:solidFill>
              </a:rPr>
              <a:t>pagos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3.6% + $3 MXN </a:t>
            </a:r>
            <a:r>
              <a:rPr lang="en-US" sz="1400" dirty="0" err="1">
                <a:solidFill>
                  <a:schemeClr val="tx2"/>
                </a:solidFill>
              </a:rPr>
              <a:t>por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transacción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Ejemplo</a:t>
            </a:r>
            <a:r>
              <a:rPr lang="en-US" sz="1400" dirty="0">
                <a:solidFill>
                  <a:schemeClr val="tx2"/>
                </a:solidFill>
              </a:rPr>
              <a:t>: </a:t>
            </a:r>
            <a:r>
              <a:rPr lang="en-US" sz="1400" dirty="0" err="1">
                <a:solidFill>
                  <a:schemeClr val="tx2"/>
                </a:solidFill>
              </a:rPr>
              <a:t>venta</a:t>
            </a:r>
            <a:r>
              <a:rPr lang="en-US" sz="1400" dirty="0">
                <a:solidFill>
                  <a:schemeClr val="tx2"/>
                </a:solidFill>
              </a:rPr>
              <a:t> de $500 = </a:t>
            </a:r>
            <a:r>
              <a:rPr lang="en-US" sz="1400" dirty="0" err="1">
                <a:solidFill>
                  <a:schemeClr val="tx2"/>
                </a:solidFill>
              </a:rPr>
              <a:t>comisión</a:t>
            </a:r>
            <a:r>
              <a:rPr lang="en-US" sz="1400" dirty="0">
                <a:solidFill>
                  <a:schemeClr val="tx2"/>
                </a:solidFill>
              </a:rPr>
              <a:t> de $21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Solo </a:t>
            </a:r>
            <a:r>
              <a:rPr lang="en-US" sz="1400" dirty="0" err="1">
                <a:solidFill>
                  <a:schemeClr val="tx2"/>
                </a:solidFill>
              </a:rPr>
              <a:t>pagas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cuando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vendes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1026" name="Picture 2" descr="Qué es Stripe y cuáles son sus ventajas?">
            <a:extLst>
              <a:ext uri="{FF2B5EF4-FFF2-40B4-BE49-F238E27FC236}">
                <a16:creationId xmlns:a16="http://schemas.microsoft.com/office/drawing/2014/main" id="{5CBB6DC6-5698-42DD-E070-F3F4D6677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37" y="2478861"/>
            <a:ext cx="352181" cy="18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66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D6A97-D5DB-93DF-F209-394BB5D6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63850D-094C-CE28-35DF-6287F1047B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BB4EEDBC-B173-CF1C-B7FE-8C6523F1A24F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Resumen</a:t>
            </a:r>
            <a:r>
              <a: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7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Inversión</a:t>
            </a:r>
            <a:endParaRPr lang="en-US" sz="27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C6F42A-DF8B-584C-8FA6-863A63FC87F3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Inicio</a:t>
            </a:r>
            <a:r>
              <a:rPr lang="en-US" sz="1400" dirty="0">
                <a:solidFill>
                  <a:schemeClr val="tx2"/>
                </a:solidFill>
              </a:rPr>
              <a:t>: ~$750 MXN (</a:t>
            </a:r>
            <a:r>
              <a:rPr lang="en-US" sz="1400" dirty="0" err="1">
                <a:solidFill>
                  <a:schemeClr val="tx2"/>
                </a:solidFill>
              </a:rPr>
              <a:t>dominio</a:t>
            </a:r>
            <a:r>
              <a:rPr lang="en-US" sz="1400" dirty="0">
                <a:solidFill>
                  <a:schemeClr val="tx2"/>
                </a:solidFill>
              </a:rPr>
              <a:t> + primer </a:t>
            </a:r>
            <a:r>
              <a:rPr lang="en-US" sz="1400" dirty="0" err="1">
                <a:solidFill>
                  <a:schemeClr val="tx2"/>
                </a:solidFill>
              </a:rPr>
              <a:t>mes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Mensual</a:t>
            </a:r>
            <a:r>
              <a:rPr lang="en-US" sz="1400" dirty="0">
                <a:solidFill>
                  <a:schemeClr val="tx2"/>
                </a:solidFill>
              </a:rPr>
              <a:t>: ~$400 MXN (hosting)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Por </a:t>
            </a:r>
            <a:r>
              <a:rPr lang="en-US" sz="1400" dirty="0" err="1">
                <a:solidFill>
                  <a:schemeClr val="tx2"/>
                </a:solidFill>
              </a:rPr>
              <a:t>venta</a:t>
            </a:r>
            <a:r>
              <a:rPr lang="en-US" sz="1400" dirty="0">
                <a:solidFill>
                  <a:schemeClr val="tx2"/>
                </a:solidFill>
              </a:rPr>
              <a:t>: 3.6% + $3 (solo </a:t>
            </a:r>
            <a:r>
              <a:rPr lang="en-US" sz="1400" dirty="0" err="1">
                <a:solidFill>
                  <a:schemeClr val="tx2"/>
                </a:solidFill>
              </a:rPr>
              <a:t>cuando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vendes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69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D7979-2D9C-1EBD-E1BD-EE450873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2CE4DF-ED97-6AFE-FB2E-52F4FA58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9" r="6915" b="2"/>
          <a:stretch>
            <a:fillRect/>
          </a:stretch>
        </p:blipFill>
        <p:spPr>
          <a:xfrm>
            <a:off x="-7145" y="2793"/>
            <a:ext cx="4384623" cy="513791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4918"/>
            <a:ext cx="4691122" cy="5156076"/>
            <a:chOff x="-9149" y="3725"/>
            <a:chExt cx="6254832" cy="688720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1DD02100-7F89-75FB-C0A5-BDAF68A49565}"/>
              </a:ext>
            </a:extLst>
          </p:cNvPr>
          <p:cNvSpPr/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7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7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Futuro: Más Herramientas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7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4643D3-D898-B99F-7CC7-80636121092C}"/>
              </a:ext>
            </a:extLst>
          </p:cNvPr>
          <p:cNvSpPr/>
          <p:nvPr/>
        </p:nvSpPr>
        <p:spPr>
          <a:xfrm>
            <a:off x="4567930" y="1811817"/>
            <a:ext cx="3733184" cy="2729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Redes </a:t>
            </a:r>
            <a:r>
              <a:rPr lang="en-US" sz="1400">
                <a:solidFill>
                  <a:schemeClr val="tx2"/>
                </a:solidFill>
              </a:rPr>
              <a:t>Sociales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>
                <a:solidFill>
                  <a:schemeClr val="tx2"/>
                </a:solidFill>
              </a:rPr>
              <a:t>administradas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Camapañas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>
                <a:solidFill>
                  <a:schemeClr val="tx2"/>
                </a:solidFill>
              </a:rPr>
              <a:t>lealtad</a:t>
            </a:r>
            <a:r>
              <a:rPr lang="en-US" sz="1400" dirty="0">
                <a:solidFill>
                  <a:schemeClr val="tx2"/>
                </a:solidFill>
              </a:rPr>
              <a:t> y puntos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Marketing </a:t>
            </a:r>
            <a:r>
              <a:rPr lang="en-US" sz="1400">
                <a:solidFill>
                  <a:schemeClr val="tx2"/>
                </a:solidFill>
              </a:rPr>
              <a:t>por</a:t>
            </a:r>
            <a:r>
              <a:rPr lang="en-US" sz="1400" dirty="0">
                <a:solidFill>
                  <a:schemeClr val="tx2"/>
                </a:solidFill>
              </a:rPr>
              <a:t> email </a:t>
            </a:r>
            <a:r>
              <a:rPr lang="en-US" sz="1400">
                <a:solidFill>
                  <a:schemeClr val="tx2"/>
                </a:solidFill>
              </a:rPr>
              <a:t>automatizado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Análisis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>
                <a:solidFill>
                  <a:schemeClr val="tx2"/>
                </a:solidFill>
              </a:rPr>
              <a:t>ventas</a:t>
            </a:r>
            <a:r>
              <a:rPr lang="en-US" sz="1400" dirty="0">
                <a:solidFill>
                  <a:schemeClr val="tx2"/>
                </a:solidFill>
              </a:rPr>
              <a:t> e </a:t>
            </a:r>
            <a:r>
              <a:rPr lang="en-US" sz="1400">
                <a:solidFill>
                  <a:schemeClr val="tx2"/>
                </a:solidFill>
              </a:rPr>
              <a:t>inteligencia</a:t>
            </a:r>
            <a:r>
              <a:rPr lang="en-US" sz="1400" dirty="0">
                <a:solidFill>
                  <a:schemeClr val="tx2"/>
                </a:solidFill>
              </a:rPr>
              <a:t> de </a:t>
            </a:r>
            <a:r>
              <a:rPr lang="en-US" sz="1400">
                <a:solidFill>
                  <a:schemeClr val="tx2"/>
                </a:solidFill>
              </a:rPr>
              <a:t>negocio</a:t>
            </a:r>
            <a:endParaRPr lang="en-US" sz="1400" dirty="0">
              <a:solidFill>
                <a:schemeClr val="tx2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3A2F02-00F2-A744-D27D-65C54C115CF9}"/>
              </a:ext>
            </a:extLst>
          </p:cNvPr>
          <p:cNvSpPr txBox="1"/>
          <p:nvPr/>
        </p:nvSpPr>
        <p:spPr>
          <a:xfrm>
            <a:off x="4766524" y="3820116"/>
            <a:ext cx="4575906" cy="8402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7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/>
              <a:t>Este </a:t>
            </a:r>
            <a:r>
              <a:rPr lang="en-US" sz="1600" i="1" dirty="0" err="1"/>
              <a:t>sistema</a:t>
            </a:r>
            <a:r>
              <a:rPr lang="en-US" sz="1600" i="1" dirty="0"/>
              <a:t> es la base para </a:t>
            </a:r>
            <a:r>
              <a:rPr lang="en-US" sz="1600" i="1" dirty="0" err="1"/>
              <a:t>crecer</a:t>
            </a:r>
            <a:r>
              <a:rPr lang="en-US" sz="1600" i="1" dirty="0"/>
              <a:t> </a:t>
            </a:r>
            <a:r>
              <a:rPr lang="en-US" sz="1600" i="1" dirty="0" err="1"/>
              <a:t>digitalmente</a:t>
            </a:r>
            <a:r>
              <a:rPr lang="en-US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701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388</Words>
  <Application>Microsoft Macintosh PowerPoint</Application>
  <PresentationFormat>Presentación en pantalla (16:9)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Alejandro Perales Cordova</cp:lastModifiedBy>
  <cp:revision>2</cp:revision>
  <dcterms:created xsi:type="dcterms:W3CDTF">2026-01-29T18:29:08Z</dcterms:created>
  <dcterms:modified xsi:type="dcterms:W3CDTF">2026-01-29T18:59:01Z</dcterms:modified>
</cp:coreProperties>
</file>